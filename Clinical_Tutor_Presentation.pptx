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Clinical 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D9B8C"/>
                </a:solidFill>
                <a:latin typeface="Calibri"/>
              </a:defRPr>
            </a:pPr>
            <a:r>
              <a:t>AI-Powered Clinical Teaching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080"/>
                </a:solidFill>
                <a:latin typeface="Calibri"/>
              </a:defRPr>
            </a:pPr>
            <a:r>
              <a:t>Training medical students on clinical reasoning with 2,000 real patient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080"/>
                </a:solidFill>
                <a:latin typeface="Calibri"/>
              </a:defRPr>
            </a:pPr>
            <a:r>
              <a:t>AI / Data in Healthcare Hackathon  |  University of Toronto  | 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B8C"/>
                </a:solidFill>
                <a:latin typeface="Calibri"/>
              </a:defRPr>
            </a:pPr>
            <a:r>
              <a:t>Creative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Medical students need thousands of hours of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case-based learning to develop clinical reasoning.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But attending physicians have limited time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for one-on-one bedside teaching.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Existing alternatives: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•  Static textbooks — no interactivity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•  Generic AI chatbots — fabricate clinical data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  •  Simulation labs — expensive, limited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D9B8C"/>
                </a:solidFill>
                <a:latin typeface="Calibri"/>
              </a:defRPr>
            </a:pPr>
            <a:r>
              <a:t>2,000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  <a:latin typeface="Calibri"/>
              </a:defRPr>
            </a:pPr>
            <a:r>
              <a:t>Real de-identified patient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7490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080"/>
                </a:solidFill>
                <a:latin typeface="Calibri"/>
              </a:defRPr>
            </a:pPr>
            <a:r>
              <a:t>from MIMIC-III clinical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080"/>
                </a:solidFill>
                <a:latin typeface="Calibri"/>
              </a:defRPr>
            </a:pPr>
            <a:r>
              <a:t>841K lab records  ·  153K prescriptions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080"/>
                </a:solidFill>
                <a:latin typeface="Calibri"/>
              </a:defRPr>
            </a:pPr>
            <a:r>
              <a:t>23K diagnoses  ·  6 structured 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Our Solution: Clinical 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7080"/>
                </a:solidFill>
                <a:latin typeface="Calibri"/>
              </a:defRPr>
            </a:pPr>
            <a:r>
              <a:t>A 7-layer AI pipeline that teaches clinical reasoning through real patient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B8C"/>
                </a:solidFill>
                <a:latin typeface="Calibri"/>
              </a:defRPr>
            </a:pPr>
            <a:r>
              <a:t>Interactive Teaching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4-stage Socratic method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Progressive case disclosure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Adaptive to student answers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Free Q&amp;A after structured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B8C"/>
                </a:solidFill>
                <a:latin typeface="Calibri"/>
              </a:defRPr>
            </a:pPr>
            <a:r>
              <a:t>Grounded in Real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7432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Knowledge Graph: 6,446 nodes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Hybrid RAG retrieval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LLM only synthesizes — never fabricates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All data from MIMIC-III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B8C"/>
                </a:solidFill>
                <a:latin typeface="Calibri"/>
              </a:defRPr>
            </a:pPr>
            <a:r>
              <a:t>Data Quality as Teaching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Detects missing labs &amp; contradictions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Flags critical values automatically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Turns data issues into learning moments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Cross-validates summaries vs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7-Layer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914400" cy="45720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Layer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Data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80"/>
                </a:solidFill>
                <a:latin typeface="Calibri"/>
              </a:defRPr>
            </a:pPr>
            <a:r>
              <a:t>data_loader.py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6 CSV tables → 2,000 Patient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914400" cy="45720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Layer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Knowledge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80"/>
                </a:solidFill>
                <a:latin typeface="Calibri"/>
              </a:defRPr>
            </a:pPr>
            <a:r>
              <a:t>knowledge_graph.py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6,446 nodes, 220,520 edges (networkx)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914400" cy="45720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Layer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Hybrid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80"/>
                </a:solidFill>
                <a:latin typeface="Calibri"/>
              </a:defRPr>
            </a:pPr>
            <a:r>
              <a:t>rag_engine.py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KG similarity (60%) + semantic embeddings (40%)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29000"/>
            <a:ext cx="914400" cy="45720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Layer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Data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80"/>
                </a:solidFill>
                <a:latin typeface="Calibri"/>
              </a:defRPr>
            </a:pPr>
            <a:r>
              <a:t>data_quality.py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29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Missing data, critical values, contradictions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14800"/>
            <a:ext cx="914400" cy="45720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Layer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LLM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80"/>
                </a:solidFill>
                <a:latin typeface="Calibri"/>
              </a:defRPr>
            </a:pPr>
            <a:r>
              <a:t>reasoning.py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Claude API, 4-stage Socratic teaching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00600"/>
            <a:ext cx="914400" cy="45720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Layer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800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API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800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80"/>
                </a:solidFill>
                <a:latin typeface="Calibri"/>
              </a:defRPr>
            </a:pPr>
            <a:r>
              <a:t>api.py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00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FastAPI REST endpoints, session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486400"/>
            <a:ext cx="914400" cy="45720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Layer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80"/>
                </a:solidFill>
                <a:latin typeface="Calibri"/>
              </a:defRPr>
            </a:pPr>
            <a:r>
              <a:t>frontend/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Next.js + TypeScript + Tailwind CSS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⚠  The LLM is the last mile — it synthesizes real data from 4 upstream layers, not its own knowledge.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B8C"/>
                </a:solidFill>
                <a:latin typeface="Calibri"/>
              </a:defRPr>
            </a:pPr>
            <a:r>
              <a:t>4 Node Types, 4 Edge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2,000 Patient nodes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2,461 Disease nodes (ICD-9 codes)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1,514 Drug nodes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471 Lab Test nodes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Total: 6,446 nodes, 220,520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B8C"/>
                </a:solidFill>
                <a:latin typeface="Calibri"/>
              </a:defRPr>
            </a:pPr>
            <a:r>
              <a:t>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Patient ── HAS_DIAGNOSIS ──▶ Disease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Patient ── TAKES_DRUG ───▶ Drug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Patient ── HAS_LAB_TEST ─▶ LabTest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Disease ── CO_OCCURS ───▶ Disease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Co-occurrence: pairs appearing in ≥10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B8C"/>
                </a:solidFill>
                <a:latin typeface="Calibri"/>
              </a:defRPr>
            </a:pPr>
            <a:r>
              <a:t>Similar Patient Scoring (Weighted Neighbor Overlap)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Shared Diagnoses × 3.0    |    Shared Drugs × 1.5    |    Shared Lab Tests × 0.5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No direct Patient↔Patient edges — similarity computed dynamically through shared neighbors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Hybrid RAG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B8C"/>
                </a:solidFill>
                <a:latin typeface="Calibri"/>
              </a:defRPr>
            </a:pPr>
            <a:r>
              <a:t>Knowledge Graph Score (60%)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Structural similarity via shared neighbors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Weighted by clinical importance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Captures: same diseases, same drugs,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same lab panels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B8C"/>
                </a:solidFill>
                <a:latin typeface="Calibri"/>
              </a:defRPr>
            </a:pPr>
            <a:r>
              <a:t>Semantic Score (40%)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sentence-transformers (all-MiniLM-L6-v2)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Embeddings stored in ChromaDB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Captures: narrative similarity in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discharge summaries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Calibri"/>
              </a:defRPr>
            </a:pPr>
            <a:r>
              <a:t>Final Score = KG Score × 0.6 + Semantic Score × 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080"/>
                </a:solidFill>
                <a:latin typeface="Calibri"/>
              </a:defRPr>
            </a:pPr>
            <a:r>
              <a:t>Why hybrid?  Two patients may have identical diagnoses and drugs (high KG score) but very different clinical narratives — or similar narratives but different structured data. Combining both signals gives clinically meaningful similarity.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Data Quality → Teaching Moments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080"/>
                </a:solidFill>
                <a:latin typeface="Calibri"/>
              </a:defRPr>
            </a:pPr>
            <a:r>
              <a:t>Real clinical data is messy. We turn that into an educational advantage.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Missing Lab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"Discharge summary mentions troponin but no troponin in lab records — why might this happen?"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Critical Value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"Potassium 6.8 mEq/L (critical range: &gt;6.0) — what's your immediate response?"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Drug-Diagnosis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"Patient on Warfarin but no documented coagulation disorder — what's the indication?"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Allergy Contradictions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"Penicillin allergy documented but Amoxicillin prescribed — is this safe?"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Each finding becomes a Socratic question in the teaching session — the student must reason through the discrepancy before moving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4-Stage Socratic Teaching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371600" cy="100584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Stage 1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Case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5544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Demographics + chief complaint only.</a:t>
            </a:r>
            <a:br/>
            <a:r>
              <a:t>Student builds initial differential diagnosis.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1371600" cy="100584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Stage 2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Physical Examination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Reveal vitals and exam findings.</a:t>
            </a:r>
            <a:br/>
            <a:r>
              <a:t>Challenge student: what changed in your differential?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371600" cy="100584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Stage 3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Labs &amp; 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931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Present lab results + flag data quality issues.</a:t>
            </a:r>
            <a:br/>
            <a:r>
              <a:t>Student proposes working diagnosis and treatment.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371600" cy="1005840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Stage 4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Treatment &amp;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Reveal actual treatment. Compare with similar cases</a:t>
            </a:r>
            <a:br/>
            <a:r>
              <a:t>from Knowledge Graph. Discuss outcomes.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After Stage 4: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3774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Free Q&amp;A mode — student can ask</a:t>
            </a:r>
            <a:br/>
            <a:r>
              <a:t>anything about the case.</a:t>
            </a:r>
            <a:br/>
            <a:br/>
            <a:r>
              <a:t>LLM has full context from all</a:t>
            </a:r>
            <a:br/>
            <a:r>
              <a:t>4 previous stages + KG data +</a:t>
            </a:r>
            <a:br/>
            <a:r>
              <a:t>quality findings + similar cases.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72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Cost per session: ~$0.01</a:t>
            </a:r>
            <a:br/>
            <a:r>
              <a:t>Scalable to thousands of students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Reliability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✓  Grounded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080"/>
                </a:solidFill>
                <a:latin typeface="Calibri"/>
              </a:defRPr>
            </a:pPr>
            <a:r>
              <a:t>LLM only synthesizes data from upstream layers — cannot fabricate patient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✓  Data Quality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194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080"/>
                </a:solidFill>
                <a:latin typeface="Calibri"/>
              </a:defRPr>
            </a:pPr>
            <a:r>
              <a:t>System actively detects and surfaces contradictions instead of hiding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✓  Progressive Disclosure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080"/>
                </a:solidFill>
                <a:latin typeface="Calibri"/>
              </a:defRPr>
            </a:pPr>
            <a:r>
              <a:t>Information revealed step-by-step, preventing cognitive overload — mirrors real clinical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✓  Honest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080"/>
                </a:solidFill>
                <a:latin typeface="Calibri"/>
              </a:defRPr>
            </a:pPr>
            <a:r>
              <a:t>When data is incomplete or ambiguous, the system says so explicitly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✓  Privacy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080"/>
                </a:solidFill>
                <a:latin typeface="Calibri"/>
              </a:defRPr>
            </a:pPr>
            <a:r>
              <a:t>All data from MIMIC-III — de-identified with date-shifted timestamps, no real patient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✓  Teaching, Not Deciding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080"/>
                </a:solidFill>
                <a:latin typeface="Calibri"/>
              </a:defRPr>
            </a:pPr>
            <a:r>
              <a:t>System teaches clinical reasoning — it never recommends treatment for actual patients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Python, FastAPI, networkx, ChromaDB, sentence-transformers, pandas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Next.js 16, TypeScript, Tailwind CSS, React Markdown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AI /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Claude API (Anthropic) — Haiku for dev, Sonnet for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MIMIC-III subset via HuggingFace (bavehackathon/2026-healthcare-ai)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all-MiniLM-L6-v2 (384-dim sentence embeddings)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8C"/>
                </a:solidFill>
                <a:latin typeface="Calibri"/>
              </a:defRPr>
            </a:pPr>
            <a:r>
              <a:t>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networkx — in-memory graph with weighted neighbor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B8C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Calibri"/>
              </a:defRPr>
            </a:pPr>
            <a:r>
              <a:t>2,000 Cases  ·  6,446 KG Nodes  ·  220,520 KG Edges  ·  841K Lab Records  ·  153K Prescriptions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D9B8C"/>
                </a:solidFill>
                <a:latin typeface="Calibri"/>
              </a:defRPr>
            </a:pPr>
            <a:r>
              <a:t>http://localhost:3000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D9B8C"/>
                </a:solidFill>
                <a:latin typeface="Calibri"/>
              </a:defRPr>
            </a:pPr>
            <a:r>
              <a:t>Clinical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080"/>
                </a:solidFill>
                <a:latin typeface="Calibri"/>
              </a:defRPr>
            </a:pPr>
            <a:r>
              <a:t>AI-Powered Clinical Teaching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